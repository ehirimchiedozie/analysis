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6953" autoAdjust="0"/>
  </p:normalViewPr>
  <p:slideViewPr>
    <p:cSldViewPr>
      <p:cViewPr varScale="1">
        <p:scale>
          <a:sx n="71" d="100"/>
          <a:sy n="71" d="100"/>
        </p:scale>
        <p:origin x="-1356"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74F1FD8-B783-4725-A7CF-EFCE5FE2F066}"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B26ED8-0DC3-4CEF-AEE5-D4CE4CCC7AA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4F1FD8-B783-4725-A7CF-EFCE5FE2F066}"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B26ED8-0DC3-4CEF-AEE5-D4CE4CCC7AA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4F1FD8-B783-4725-A7CF-EFCE5FE2F066}"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B26ED8-0DC3-4CEF-AEE5-D4CE4CCC7AA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74F1FD8-B783-4725-A7CF-EFCE5FE2F066}"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B26ED8-0DC3-4CEF-AEE5-D4CE4CCC7AA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74F1FD8-B783-4725-A7CF-EFCE5FE2F066}" type="datetimeFigureOut">
              <a:rPr lang="en-US" smtClean="0"/>
              <a:pPr/>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B26ED8-0DC3-4CEF-AEE5-D4CE4CCC7AA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74F1FD8-B783-4725-A7CF-EFCE5FE2F066}" type="datetimeFigureOut">
              <a:rPr lang="en-US" smtClean="0"/>
              <a:pPr/>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1B26ED8-0DC3-4CEF-AEE5-D4CE4CCC7AA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4F1FD8-B783-4725-A7CF-EFCE5FE2F066}" type="datetimeFigureOut">
              <a:rPr lang="en-US" smtClean="0"/>
              <a:pPr/>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1B26ED8-0DC3-4CEF-AEE5-D4CE4CCC7AA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4F1FD8-B783-4725-A7CF-EFCE5FE2F066}"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B26ED8-0DC3-4CEF-AEE5-D4CE4CCC7AA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4F1FD8-B783-4725-A7CF-EFCE5FE2F066}"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B26ED8-0DC3-4CEF-AEE5-D4CE4CCC7AA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4F1FD8-B783-4725-A7CF-EFCE5FE2F066}"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B26ED8-0DC3-4CEF-AEE5-D4CE4CCC7AA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4F1FD8-B783-4725-A7CF-EFCE5FE2F066}"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B26ED8-0DC3-4CEF-AEE5-D4CE4CCC7AA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4F1FD8-B783-4725-A7CF-EFCE5FE2F066}" type="datetimeFigureOut">
              <a:rPr lang="en-US" smtClean="0"/>
              <a:pPr/>
              <a:t>6/10/2026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B26ED8-0DC3-4CEF-AEE5-D4CE4CCC7AA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pandas.pydata.org/docs/reference/api/pandas.DataFrame.html" TargetMode="External"/><Relationship Id="rId2" Type="http://schemas.openxmlformats.org/officeDocument/2006/relationships/hyperlink" Target="https://pandas.pydata.org/docs/user_guide/dsintro.html" TargetMode="Externa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304800"/>
            <a:ext cx="7772400" cy="1219199"/>
          </a:xfrm>
        </p:spPr>
        <p:txBody>
          <a:bodyPr/>
          <a:lstStyle/>
          <a:p>
            <a:r>
              <a:rPr lang="en-US" dirty="0" smtClean="0"/>
              <a:t>WHAT IS PANDAS?</a:t>
            </a:r>
            <a:endParaRPr lang="en-US" dirty="0"/>
          </a:p>
        </p:txBody>
      </p:sp>
      <p:sp>
        <p:nvSpPr>
          <p:cNvPr id="3" name="Subtitle 2"/>
          <p:cNvSpPr>
            <a:spLocks noGrp="1"/>
          </p:cNvSpPr>
          <p:nvPr>
            <p:ph type="subTitle" idx="1"/>
          </p:nvPr>
        </p:nvSpPr>
        <p:spPr>
          <a:xfrm>
            <a:off x="457200" y="1143000"/>
            <a:ext cx="8458200" cy="5410200"/>
          </a:xfrm>
        </p:spPr>
        <p:txBody>
          <a:bodyPr>
            <a:normAutofit/>
          </a:bodyPr>
          <a:lstStyle/>
          <a:p>
            <a:endParaRPr lang="en-US" sz="1600" dirty="0">
              <a:latin typeface="Times New Roman" pitchFamily="18" charset="0"/>
              <a:cs typeface="Times New Roman" pitchFamily="18" charset="0"/>
            </a:endParaRPr>
          </a:p>
          <a:p>
            <a:r>
              <a:rPr lang="en-US" sz="1600" dirty="0" smtClean="0">
                <a:latin typeface="Times New Roman" pitchFamily="18" charset="0"/>
                <a:cs typeface="Times New Roman" pitchFamily="18" charset="0"/>
              </a:rPr>
              <a:t>Pandas is an open-source programming library offering programmers working in Python a more efficient way to analyze data, create visualizations, and manipulate data sets. Although the primary use for pandas is data analysis, this library also supports machine learning, allowing you to prepare the data that you will ultimately use when training your machine learning model.</a:t>
            </a:r>
          </a:p>
          <a:p>
            <a:r>
              <a:rPr lang="en-US" sz="1600" dirty="0" smtClean="0">
                <a:latin typeface="Times New Roman" pitchFamily="18" charset="0"/>
                <a:cs typeface="Times New Roman" pitchFamily="18" charset="0"/>
              </a:rPr>
              <a:t>Pandas allows efficient handling and manipulation of data in a few lines of code.</a:t>
            </a:r>
          </a:p>
          <a:p>
            <a:endParaRPr lang="en-US" sz="1600"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Pandas is most widely used for data analysis because:</a:t>
            </a:r>
            <a:endParaRPr lang="en-US" sz="1600" dirty="0">
              <a:latin typeface="Times New Roman" pitchFamily="18" charset="0"/>
              <a:cs typeface="Times New Roman" pitchFamily="18" charset="0"/>
            </a:endParaRPr>
          </a:p>
          <a:p>
            <a:r>
              <a:rPr lang="en-US" sz="1600" dirty="0" smtClean="0">
                <a:latin typeface="Times New Roman" pitchFamily="18" charset="0"/>
                <a:cs typeface="Times New Roman" pitchFamily="18" charset="0"/>
              </a:rPr>
              <a:t>1. It provides options for sorting, cleaning, and restructuring large data sets, helping you remove irrelevant values and correct missing data.</a:t>
            </a:r>
          </a:p>
          <a:p>
            <a:r>
              <a:rPr lang="en-US" sz="1600" dirty="0" smtClean="0">
                <a:latin typeface="Times New Roman" pitchFamily="18" charset="0"/>
                <a:cs typeface="Times New Roman" pitchFamily="18" charset="0"/>
              </a:rPr>
              <a:t>2. Beyond data analysis, pandas integrates with machine learning libraries, such as </a:t>
            </a:r>
            <a:r>
              <a:rPr lang="en-US" sz="1600" dirty="0" err="1" smtClean="0">
                <a:latin typeface="Times New Roman" pitchFamily="18" charset="0"/>
                <a:cs typeface="Times New Roman" pitchFamily="18" charset="0"/>
              </a:rPr>
              <a:t>TensorFlow</a:t>
            </a:r>
            <a:r>
              <a:rPr lang="en-US" sz="1600" dirty="0" smtClean="0">
                <a:latin typeface="Times New Roman" pitchFamily="18" charset="0"/>
                <a:cs typeface="Times New Roman" pitchFamily="18" charset="0"/>
              </a:rPr>
              <a:t>, and data science libraries, such as </a:t>
            </a:r>
            <a:r>
              <a:rPr lang="en-US" sz="1600" dirty="0" err="1" smtClean="0">
                <a:latin typeface="Times New Roman" pitchFamily="18" charset="0"/>
                <a:cs typeface="Times New Roman" pitchFamily="18" charset="0"/>
              </a:rPr>
              <a:t>NumPy</a:t>
            </a:r>
            <a:r>
              <a:rPr lang="en-US" sz="1600" dirty="0" smtClean="0">
                <a:latin typeface="Times New Roman" pitchFamily="18" charset="0"/>
                <a:cs typeface="Times New Roman" pitchFamily="18" charset="0"/>
              </a:rPr>
              <a:t>.</a:t>
            </a:r>
          </a:p>
          <a:p>
            <a:r>
              <a:rPr lang="en-US" sz="1600" dirty="0" smtClean="0">
                <a:latin typeface="Times New Roman" pitchFamily="18" charset="0"/>
                <a:cs typeface="Times New Roman" pitchFamily="18" charset="0"/>
              </a:rPr>
              <a:t>3. You can use pandas across multiple stages of your data science projects, from cleaning and analyzing data to preparing it for machine learning models.</a:t>
            </a:r>
          </a:p>
          <a:p>
            <a:endParaRPr lang="en-US" sz="1600" dirty="0" smtClean="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8229600" cy="762000"/>
          </a:xfrm>
        </p:spPr>
        <p:txBody>
          <a:bodyPr>
            <a:normAutofit/>
          </a:bodyPr>
          <a:lstStyle/>
          <a:p>
            <a:r>
              <a:rPr lang="en-US" sz="2000" dirty="0" smtClean="0"/>
              <a:t>Pandas Data Structures</a:t>
            </a:r>
            <a:endParaRPr lang="en-US" sz="2000" dirty="0"/>
          </a:p>
        </p:txBody>
      </p:sp>
      <p:sp>
        <p:nvSpPr>
          <p:cNvPr id="3" name="Content Placeholder 2"/>
          <p:cNvSpPr>
            <a:spLocks noGrp="1"/>
          </p:cNvSpPr>
          <p:nvPr>
            <p:ph idx="1"/>
          </p:nvPr>
        </p:nvSpPr>
        <p:spPr>
          <a:xfrm>
            <a:off x="457200" y="762000"/>
            <a:ext cx="8382000" cy="6096000"/>
          </a:xfrm>
        </p:spPr>
        <p:txBody>
          <a:bodyPr>
            <a:noAutofit/>
          </a:bodyPr>
          <a:lstStyle/>
          <a:p>
            <a:r>
              <a:rPr lang="en-US" sz="1100" dirty="0" smtClean="0">
                <a:latin typeface="Times New Roman" pitchFamily="18" charset="0"/>
                <a:cs typeface="Times New Roman" pitchFamily="18" charset="0"/>
              </a:rPr>
              <a:t>Pandas provides two main data structures. They are called series and </a:t>
            </a:r>
            <a:r>
              <a:rPr lang="en-US" sz="1100" dirty="0" err="1" smtClean="0">
                <a:latin typeface="Times New Roman" pitchFamily="18" charset="0"/>
                <a:cs typeface="Times New Roman" pitchFamily="18" charset="0"/>
              </a:rPr>
              <a:t>dataframes</a:t>
            </a:r>
            <a:r>
              <a:rPr lang="en-US" sz="1100" dirty="0" smtClean="0">
                <a:latin typeface="Times New Roman" pitchFamily="18" charset="0"/>
                <a:cs typeface="Times New Roman" pitchFamily="18" charset="0"/>
              </a:rPr>
              <a:t>.</a:t>
            </a:r>
          </a:p>
          <a:p>
            <a:r>
              <a:rPr lang="en-US" sz="1100" dirty="0" smtClean="0">
                <a:latin typeface="Times New Roman" pitchFamily="18" charset="0"/>
                <a:cs typeface="Times New Roman" pitchFamily="18" charset="0"/>
              </a:rPr>
              <a:t>A </a:t>
            </a:r>
            <a:r>
              <a:rPr lang="en-US" sz="1100" dirty="0" err="1">
                <a:latin typeface="Times New Roman" pitchFamily="18" charset="0"/>
                <a:cs typeface="Times New Roman" pitchFamily="18" charset="0"/>
                <a:hlinkClick r:id="rId2"/>
              </a:rPr>
              <a:t>pandas.Series</a:t>
            </a:r>
            <a:r>
              <a:rPr lang="en-US" sz="1100" dirty="0" smtClean="0">
                <a:latin typeface="Times New Roman" pitchFamily="18" charset="0"/>
                <a:cs typeface="Times New Roman" pitchFamily="18" charset="0"/>
              </a:rPr>
              <a:t> is a one-dimensional, labeled array capable of holding any data type. It is the building block of pandas; you can think of it as a single column in an Excel spreadsheet. Series can be created from python data structures such as lists and dictionaries. </a:t>
            </a:r>
          </a:p>
          <a:p>
            <a:r>
              <a:rPr lang="en-US" sz="1100" dirty="0" smtClean="0">
                <a:latin typeface="Times New Roman" pitchFamily="18" charset="0"/>
                <a:cs typeface="Times New Roman" pitchFamily="18" charset="0"/>
              </a:rPr>
              <a:t>To create a pandas series using a list,</a:t>
            </a:r>
            <a:endParaRPr lang="en-US" sz="1100" i="1" dirty="0" smtClean="0">
              <a:latin typeface="Times New Roman" pitchFamily="18" charset="0"/>
              <a:cs typeface="Times New Roman" pitchFamily="18" charset="0"/>
            </a:endParaRPr>
          </a:p>
          <a:p>
            <a:r>
              <a:rPr lang="en-US" sz="1100" i="1" dirty="0">
                <a:latin typeface="Times New Roman" pitchFamily="18" charset="0"/>
                <a:cs typeface="Times New Roman" pitchFamily="18" charset="0"/>
              </a:rPr>
              <a:t>i</a:t>
            </a:r>
            <a:r>
              <a:rPr lang="en-US" sz="1100" i="1" dirty="0" smtClean="0">
                <a:latin typeface="Times New Roman" pitchFamily="18" charset="0"/>
                <a:cs typeface="Times New Roman" pitchFamily="18" charset="0"/>
              </a:rPr>
              <a:t>mport pandas</a:t>
            </a:r>
          </a:p>
          <a:p>
            <a:r>
              <a:rPr lang="en-US" sz="1100" i="1" dirty="0">
                <a:latin typeface="Times New Roman" pitchFamily="18" charset="0"/>
                <a:cs typeface="Times New Roman" pitchFamily="18" charset="0"/>
              </a:rPr>
              <a:t>f</a:t>
            </a:r>
            <a:r>
              <a:rPr lang="en-US" sz="1100" i="1" dirty="0" smtClean="0">
                <a:latin typeface="Times New Roman" pitchFamily="18" charset="0"/>
                <a:cs typeface="Times New Roman" pitchFamily="18" charset="0"/>
              </a:rPr>
              <a:t>ruits = [‘orange’, ‘mango’, ‘pear’]</a:t>
            </a:r>
          </a:p>
          <a:p>
            <a:r>
              <a:rPr lang="en-US" sz="1100" i="1" dirty="0" err="1" smtClean="0">
                <a:latin typeface="Times New Roman" pitchFamily="18" charset="0"/>
                <a:cs typeface="Times New Roman" pitchFamily="18" charset="0"/>
              </a:rPr>
              <a:t>fruit_series</a:t>
            </a:r>
            <a:r>
              <a:rPr lang="en-US" sz="1100" i="1" dirty="0" smtClean="0">
                <a:latin typeface="Times New Roman" pitchFamily="18" charset="0"/>
                <a:cs typeface="Times New Roman" pitchFamily="18" charset="0"/>
              </a:rPr>
              <a:t> = </a:t>
            </a:r>
            <a:r>
              <a:rPr lang="en-US" sz="1100" i="1" dirty="0" err="1" smtClean="0">
                <a:latin typeface="Times New Roman" pitchFamily="18" charset="0"/>
                <a:cs typeface="Times New Roman" pitchFamily="18" charset="0"/>
              </a:rPr>
              <a:t>pandas.Series</a:t>
            </a:r>
            <a:r>
              <a:rPr lang="en-US" sz="1100" i="1" dirty="0" smtClean="0">
                <a:latin typeface="Times New Roman" pitchFamily="18" charset="0"/>
                <a:cs typeface="Times New Roman" pitchFamily="18" charset="0"/>
              </a:rPr>
              <a:t>(fruits)</a:t>
            </a:r>
          </a:p>
          <a:p>
            <a:r>
              <a:rPr lang="en-US" sz="1100" i="1" dirty="0" smtClean="0">
                <a:latin typeface="Times New Roman" pitchFamily="18" charset="0"/>
                <a:cs typeface="Times New Roman" pitchFamily="18" charset="0"/>
              </a:rPr>
              <a:t>print(</a:t>
            </a:r>
            <a:r>
              <a:rPr lang="en-US" sz="1100" i="1" dirty="0" err="1" smtClean="0">
                <a:latin typeface="Times New Roman" pitchFamily="18" charset="0"/>
                <a:cs typeface="Times New Roman" pitchFamily="18" charset="0"/>
              </a:rPr>
              <a:t>fruit_series</a:t>
            </a:r>
            <a:r>
              <a:rPr lang="en-US" sz="1100" i="1" dirty="0" smtClean="0">
                <a:latin typeface="Times New Roman" pitchFamily="18" charset="0"/>
                <a:cs typeface="Times New Roman" pitchFamily="18" charset="0"/>
              </a:rPr>
              <a:t>)</a:t>
            </a:r>
            <a:endParaRPr lang="en-US" sz="1100" dirty="0" smtClean="0">
              <a:latin typeface="Times New Roman" pitchFamily="18" charset="0"/>
              <a:cs typeface="Times New Roman" pitchFamily="18" charset="0"/>
            </a:endParaRPr>
          </a:p>
          <a:p>
            <a:endParaRPr lang="en-US" sz="1100" i="1" dirty="0">
              <a:latin typeface="Times New Roman" pitchFamily="18" charset="0"/>
              <a:cs typeface="Times New Roman" pitchFamily="18" charset="0"/>
            </a:endParaRPr>
          </a:p>
          <a:p>
            <a:r>
              <a:rPr lang="en-US" sz="1100" dirty="0" smtClean="0">
                <a:latin typeface="Times New Roman" pitchFamily="18" charset="0"/>
                <a:cs typeface="Times New Roman" pitchFamily="18" charset="0"/>
              </a:rPr>
              <a:t>Pandas Series can also be created from python dictionaries</a:t>
            </a:r>
          </a:p>
          <a:p>
            <a:r>
              <a:rPr lang="en-US" sz="1100" dirty="0" smtClean="0">
                <a:latin typeface="Times New Roman" pitchFamily="18" charset="0"/>
                <a:cs typeface="Times New Roman" pitchFamily="18" charset="0"/>
              </a:rPr>
              <a:t>Example:</a:t>
            </a:r>
          </a:p>
          <a:p>
            <a:endParaRPr lang="en-US" sz="1100" i="1" dirty="0">
              <a:latin typeface="Times New Roman" pitchFamily="18" charset="0"/>
              <a:cs typeface="Times New Roman" pitchFamily="18" charset="0"/>
            </a:endParaRPr>
          </a:p>
          <a:p>
            <a:r>
              <a:rPr lang="en-US" sz="1100" i="1" dirty="0">
                <a:latin typeface="Times New Roman" pitchFamily="18" charset="0"/>
                <a:cs typeface="Times New Roman" pitchFamily="18" charset="0"/>
              </a:rPr>
              <a:t>i</a:t>
            </a:r>
            <a:r>
              <a:rPr lang="en-US" sz="1100" i="1" dirty="0" smtClean="0">
                <a:latin typeface="Times New Roman" pitchFamily="18" charset="0"/>
                <a:cs typeface="Times New Roman" pitchFamily="18" charset="0"/>
              </a:rPr>
              <a:t>mport pandas</a:t>
            </a:r>
          </a:p>
          <a:p>
            <a:r>
              <a:rPr lang="en-US" sz="1100" dirty="0">
                <a:latin typeface="Times New Roman" pitchFamily="18" charset="0"/>
                <a:cs typeface="Times New Roman" pitchFamily="18" charset="0"/>
              </a:rPr>
              <a:t> food = {1: 'rice', 2:'beans', 3:'garri</a:t>
            </a:r>
            <a:r>
              <a:rPr lang="en-US" sz="1100" dirty="0" smtClean="0">
                <a:latin typeface="Times New Roman" pitchFamily="18" charset="0"/>
                <a:cs typeface="Times New Roman" pitchFamily="18" charset="0"/>
              </a:rPr>
              <a:t>'}</a:t>
            </a:r>
          </a:p>
          <a:p>
            <a:r>
              <a:rPr lang="en-US" sz="1100" i="1" dirty="0" err="1" smtClean="0">
                <a:latin typeface="Times New Roman" pitchFamily="18" charset="0"/>
                <a:cs typeface="Times New Roman" pitchFamily="18" charset="0"/>
              </a:rPr>
              <a:t>food_series</a:t>
            </a:r>
            <a:r>
              <a:rPr lang="en-US" sz="1100" i="1" dirty="0" smtClean="0">
                <a:latin typeface="Times New Roman" pitchFamily="18" charset="0"/>
                <a:cs typeface="Times New Roman" pitchFamily="18" charset="0"/>
              </a:rPr>
              <a:t>  = </a:t>
            </a:r>
            <a:r>
              <a:rPr lang="en-US" sz="1100" i="1" dirty="0" err="1" smtClean="0">
                <a:latin typeface="Times New Roman" pitchFamily="18" charset="0"/>
                <a:cs typeface="Times New Roman" pitchFamily="18" charset="0"/>
              </a:rPr>
              <a:t>pandas.Series</a:t>
            </a:r>
            <a:r>
              <a:rPr lang="en-US" sz="1100" i="1" dirty="0" smtClean="0">
                <a:latin typeface="Times New Roman" pitchFamily="18" charset="0"/>
                <a:cs typeface="Times New Roman" pitchFamily="18" charset="0"/>
              </a:rPr>
              <a:t>(food)</a:t>
            </a:r>
          </a:p>
          <a:p>
            <a:r>
              <a:rPr lang="en-US" sz="1100" i="1" dirty="0" smtClean="0">
                <a:latin typeface="Times New Roman" pitchFamily="18" charset="0"/>
                <a:cs typeface="Times New Roman" pitchFamily="18" charset="0"/>
              </a:rPr>
              <a:t>print(</a:t>
            </a:r>
            <a:r>
              <a:rPr lang="en-US" sz="1100" i="1" dirty="0" err="1" smtClean="0">
                <a:latin typeface="Times New Roman" pitchFamily="18" charset="0"/>
                <a:cs typeface="Times New Roman" pitchFamily="18" charset="0"/>
              </a:rPr>
              <a:t>food_series</a:t>
            </a:r>
            <a:r>
              <a:rPr lang="en-US" sz="1100" i="1" dirty="0" smtClean="0">
                <a:latin typeface="Times New Roman" pitchFamily="18" charset="0"/>
                <a:cs typeface="Times New Roman" pitchFamily="18" charset="0"/>
              </a:rPr>
              <a:t>)</a:t>
            </a:r>
          </a:p>
          <a:p>
            <a:pPr>
              <a:buNone/>
            </a:pPr>
            <a:endParaRPr lang="en-US" sz="1100" i="1" dirty="0" smtClean="0">
              <a:latin typeface="Times New Roman" pitchFamily="18" charset="0"/>
              <a:cs typeface="Times New Roman" pitchFamily="18" charset="0"/>
            </a:endParaRPr>
          </a:p>
          <a:p>
            <a:endParaRPr lang="en-US" sz="1100" dirty="0" smtClean="0"/>
          </a:p>
          <a:p>
            <a:r>
              <a:rPr lang="en-US" sz="1100" dirty="0" smtClean="0"/>
              <a:t>A </a:t>
            </a:r>
            <a:r>
              <a:rPr lang="en-US" sz="1100" dirty="0" err="1">
                <a:hlinkClick r:id="rId3"/>
              </a:rPr>
              <a:t>pandas.DataFrame</a:t>
            </a:r>
            <a:r>
              <a:rPr lang="en-US" sz="1100" dirty="0" smtClean="0"/>
              <a:t> is a two-dimensional, size-mutable, and tabular data structure with labeled rows and columns. It represents a complete spreadsheet, SQL table, or a dictionary collection of multiple Series objects shared across a common index. We can create a pandas </a:t>
            </a:r>
            <a:r>
              <a:rPr lang="en-US" sz="1100" dirty="0" err="1" smtClean="0"/>
              <a:t>dataframe</a:t>
            </a:r>
            <a:r>
              <a:rPr lang="en-US" sz="1100" dirty="0" smtClean="0"/>
              <a:t> using a python dictionary. For example, suppose we want to get the goal contributions of some Arsenal players in a particular season</a:t>
            </a:r>
            <a:endParaRPr lang="en-US" sz="1100" i="1" dirty="0">
              <a:latin typeface="Times New Roman" pitchFamily="18" charset="0"/>
              <a:cs typeface="Times New Roman" pitchFamily="18" charset="0"/>
            </a:endParaRPr>
          </a:p>
          <a:p>
            <a:r>
              <a:rPr lang="en-US" sz="1100" i="1" dirty="0" smtClean="0">
                <a:latin typeface="Times New Roman" pitchFamily="18" charset="0"/>
                <a:cs typeface="Times New Roman" pitchFamily="18" charset="0"/>
              </a:rPr>
              <a:t>import pandas</a:t>
            </a:r>
          </a:p>
          <a:p>
            <a:r>
              <a:rPr lang="en-US" sz="1100" i="1" dirty="0"/>
              <a:t>names = ['</a:t>
            </a:r>
            <a:r>
              <a:rPr lang="en-US" sz="1100" i="1" dirty="0" err="1"/>
              <a:t>Martinelli</a:t>
            </a:r>
            <a:r>
              <a:rPr lang="en-US" sz="1100" i="1" dirty="0"/>
              <a:t>', '</a:t>
            </a:r>
            <a:r>
              <a:rPr lang="en-US" sz="1100" i="1" dirty="0" err="1"/>
              <a:t>Gyokeres</a:t>
            </a:r>
            <a:r>
              <a:rPr lang="en-US" sz="1100" i="1" dirty="0"/>
              <a:t>', '</a:t>
            </a:r>
            <a:r>
              <a:rPr lang="en-US" sz="1100" i="1" dirty="0" err="1"/>
              <a:t>Eberechi</a:t>
            </a:r>
            <a:r>
              <a:rPr lang="en-US" sz="1100" i="1" dirty="0"/>
              <a:t>', 'Rice']</a:t>
            </a:r>
          </a:p>
          <a:p>
            <a:r>
              <a:rPr lang="en-US" sz="1100" i="1" dirty="0"/>
              <a:t>goals = [11, 16, 7, 12]</a:t>
            </a:r>
          </a:p>
          <a:p>
            <a:r>
              <a:rPr lang="en-US" sz="1100" i="1" dirty="0"/>
              <a:t>assists = [3, 6, 14, 13]</a:t>
            </a:r>
          </a:p>
          <a:p>
            <a:r>
              <a:rPr lang="en-US" sz="1100" i="1" dirty="0"/>
              <a:t/>
            </a:r>
            <a:br>
              <a:rPr lang="en-US" sz="1100" i="1" dirty="0"/>
            </a:br>
            <a:r>
              <a:rPr lang="en-US" sz="1100" i="1" dirty="0" err="1" smtClean="0"/>
              <a:t>df</a:t>
            </a:r>
            <a:r>
              <a:rPr lang="en-US" sz="1100" i="1" dirty="0" smtClean="0"/>
              <a:t> </a:t>
            </a:r>
            <a:r>
              <a:rPr lang="en-US" sz="1100" i="1" dirty="0"/>
              <a:t>= </a:t>
            </a:r>
            <a:r>
              <a:rPr lang="en-US" sz="1100" i="1" dirty="0" err="1"/>
              <a:t>pandas.DataFrame</a:t>
            </a:r>
            <a:r>
              <a:rPr lang="en-US" sz="1100" i="1" dirty="0"/>
              <a:t>({'Names': names, 'Goals': goals, 'Assists': assists})</a:t>
            </a:r>
          </a:p>
          <a:p>
            <a:r>
              <a:rPr lang="en-US" sz="1100" i="1" dirty="0" smtClean="0"/>
              <a:t>print(</a:t>
            </a:r>
            <a:r>
              <a:rPr lang="en-US" sz="1100" i="1" dirty="0" err="1" smtClean="0"/>
              <a:t>df</a:t>
            </a:r>
            <a:r>
              <a:rPr lang="en-US" sz="1100" i="1" dirty="0" smtClean="0"/>
              <a:t>)</a:t>
            </a:r>
            <a:endParaRPr lang="en-US" sz="1100" i="1" dirty="0"/>
          </a:p>
          <a:p>
            <a:endParaRPr lang="en-US" sz="1100" i="1" dirty="0">
              <a:latin typeface="Times New Roman" pitchFamily="18" charset="0"/>
              <a:cs typeface="Times New Roman" pitchFamily="18" charset="0"/>
            </a:endParaRPr>
          </a:p>
          <a:p>
            <a:endParaRPr lang="en-US" sz="1100" i="1" dirty="0">
              <a:latin typeface="Times New Roman" pitchFamily="18" charset="0"/>
              <a:cs typeface="Times New Roman" pitchFamily="18" charset="0"/>
            </a:endParaRPr>
          </a:p>
        </p:txBody>
      </p:sp>
      <p:pic>
        <p:nvPicPr>
          <p:cNvPr id="4" name="Picture 3" descr="fruits_series.png"/>
          <p:cNvPicPr>
            <a:picLocks noChangeAspect="1"/>
          </p:cNvPicPr>
          <p:nvPr/>
        </p:nvPicPr>
        <p:blipFill>
          <a:blip r:embed="rId4"/>
          <a:stretch>
            <a:fillRect/>
          </a:stretch>
        </p:blipFill>
        <p:spPr>
          <a:xfrm>
            <a:off x="4724400" y="1447800"/>
            <a:ext cx="2939143" cy="1524000"/>
          </a:xfrm>
          <a:prstGeom prst="rect">
            <a:avLst/>
          </a:prstGeom>
        </p:spPr>
      </p:pic>
      <p:pic>
        <p:nvPicPr>
          <p:cNvPr id="5" name="Picture 4" descr="food_series.png"/>
          <p:cNvPicPr>
            <a:picLocks noChangeAspect="1"/>
          </p:cNvPicPr>
          <p:nvPr/>
        </p:nvPicPr>
        <p:blipFill>
          <a:blip r:embed="rId5"/>
          <a:stretch>
            <a:fillRect/>
          </a:stretch>
        </p:blipFill>
        <p:spPr>
          <a:xfrm>
            <a:off x="4724400" y="3048000"/>
            <a:ext cx="2971800" cy="1343244"/>
          </a:xfrm>
          <a:prstGeom prst="rect">
            <a:avLst/>
          </a:prstGeom>
        </p:spPr>
      </p:pic>
      <p:pic>
        <p:nvPicPr>
          <p:cNvPr id="7" name="Picture 6" descr="goalsdf.png"/>
          <p:cNvPicPr>
            <a:picLocks noChangeAspect="1"/>
          </p:cNvPicPr>
          <p:nvPr/>
        </p:nvPicPr>
        <p:blipFill>
          <a:blip r:embed="rId6"/>
          <a:stretch>
            <a:fillRect/>
          </a:stretch>
        </p:blipFill>
        <p:spPr>
          <a:xfrm>
            <a:off x="6705600" y="4876800"/>
            <a:ext cx="1953029" cy="17796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838200"/>
          </a:xfrm>
        </p:spPr>
        <p:txBody>
          <a:bodyPr>
            <a:normAutofit/>
          </a:bodyPr>
          <a:lstStyle/>
          <a:p>
            <a:r>
              <a:rPr lang="en-US" sz="2000" dirty="0" smtClean="0"/>
              <a:t>Loading and Inspecting Data</a:t>
            </a:r>
            <a:endParaRPr lang="en-US" sz="2000" dirty="0"/>
          </a:p>
        </p:txBody>
      </p:sp>
      <p:sp>
        <p:nvSpPr>
          <p:cNvPr id="3" name="Content Placeholder 2"/>
          <p:cNvSpPr>
            <a:spLocks noGrp="1"/>
          </p:cNvSpPr>
          <p:nvPr>
            <p:ph idx="1"/>
          </p:nvPr>
        </p:nvSpPr>
        <p:spPr>
          <a:xfrm>
            <a:off x="228600" y="762000"/>
            <a:ext cx="8763000" cy="5791200"/>
          </a:xfrm>
        </p:spPr>
        <p:txBody>
          <a:bodyPr>
            <a:normAutofit/>
          </a:bodyPr>
          <a:lstStyle/>
          <a:p>
            <a:r>
              <a:rPr lang="en-US" sz="1600" dirty="0" smtClean="0">
                <a:latin typeface="Times New Roman" pitchFamily="18" charset="0"/>
                <a:cs typeface="Times New Roman" pitchFamily="18" charset="0"/>
              </a:rPr>
              <a:t>In pandas, data can be read from various sources. From </a:t>
            </a:r>
            <a:r>
              <a:rPr lang="en-US" sz="1600" dirty="0" err="1" smtClean="0">
                <a:latin typeface="Times New Roman" pitchFamily="18" charset="0"/>
                <a:cs typeface="Times New Roman" pitchFamily="18" charset="0"/>
              </a:rPr>
              <a:t>csv</a:t>
            </a:r>
            <a:r>
              <a:rPr lang="en-US" sz="1600" dirty="0" smtClean="0">
                <a:latin typeface="Times New Roman" pitchFamily="18" charset="0"/>
                <a:cs typeface="Times New Roman" pitchFamily="18" charset="0"/>
              </a:rPr>
              <a:t> files, </a:t>
            </a:r>
            <a:r>
              <a:rPr lang="en-US" sz="1600" dirty="0" err="1" smtClean="0">
                <a:latin typeface="Times New Roman" pitchFamily="18" charset="0"/>
                <a:cs typeface="Times New Roman" pitchFamily="18" charset="0"/>
              </a:rPr>
              <a:t>json</a:t>
            </a:r>
            <a:r>
              <a:rPr lang="en-US" sz="1600" dirty="0" smtClean="0">
                <a:latin typeface="Times New Roman" pitchFamily="18" charset="0"/>
                <a:cs typeface="Times New Roman" pitchFamily="18" charset="0"/>
              </a:rPr>
              <a:t> formats, excel files, </a:t>
            </a:r>
            <a:r>
              <a:rPr lang="en-US" sz="1600" dirty="0" err="1" smtClean="0">
                <a:latin typeface="Times New Roman" pitchFamily="18" charset="0"/>
                <a:cs typeface="Times New Roman" pitchFamily="18" charset="0"/>
              </a:rPr>
              <a:t>sql</a:t>
            </a:r>
            <a:r>
              <a:rPr lang="en-US" sz="1600" dirty="0" smtClean="0">
                <a:latin typeface="Times New Roman" pitchFamily="18" charset="0"/>
                <a:cs typeface="Times New Roman" pitchFamily="18" charset="0"/>
              </a:rPr>
              <a:t> databases, web pages, etc.</a:t>
            </a:r>
          </a:p>
          <a:p>
            <a:r>
              <a:rPr lang="en-US" sz="1600" dirty="0" smtClean="0">
                <a:latin typeface="Times New Roman" pitchFamily="18" charset="0"/>
                <a:cs typeface="Times New Roman" pitchFamily="18" charset="0"/>
              </a:rPr>
              <a:t>To read data from any of the sources, we use the appropriate pandas function. For example, to read a from a </a:t>
            </a:r>
            <a:r>
              <a:rPr lang="en-US" sz="1600" dirty="0" err="1" smtClean="0">
                <a:latin typeface="Times New Roman" pitchFamily="18" charset="0"/>
                <a:cs typeface="Times New Roman" pitchFamily="18" charset="0"/>
              </a:rPr>
              <a:t>csv</a:t>
            </a:r>
            <a:r>
              <a:rPr lang="en-US" sz="1600" dirty="0" smtClean="0">
                <a:latin typeface="Times New Roman" pitchFamily="18" charset="0"/>
                <a:cs typeface="Times New Roman" pitchFamily="18" charset="0"/>
              </a:rPr>
              <a:t> file, we use the </a:t>
            </a:r>
            <a:r>
              <a:rPr lang="en-US" sz="1600" i="1" dirty="0" err="1" smtClean="0">
                <a:latin typeface="Times New Roman" pitchFamily="18" charset="0"/>
                <a:cs typeface="Times New Roman" pitchFamily="18" charset="0"/>
              </a:rPr>
              <a:t>pandas.read_csv</a:t>
            </a:r>
            <a:r>
              <a:rPr lang="en-US" sz="1600" i="1" dirty="0" smtClean="0">
                <a:latin typeface="Times New Roman" pitchFamily="18" charset="0"/>
                <a:cs typeface="Times New Roman" pitchFamily="18" charset="0"/>
              </a:rPr>
              <a:t>(</a:t>
            </a:r>
            <a:r>
              <a:rPr lang="en-US" sz="1600" i="1" dirty="0" err="1" smtClean="0">
                <a:latin typeface="Times New Roman" pitchFamily="18" charset="0"/>
                <a:cs typeface="Times New Roman" pitchFamily="18" charset="0"/>
              </a:rPr>
              <a:t>filepath</a:t>
            </a:r>
            <a:r>
              <a:rPr lang="en-US" sz="1600" i="1" dirty="0" smtClean="0">
                <a:latin typeface="Times New Roman" pitchFamily="18" charset="0"/>
                <a:cs typeface="Times New Roman" pitchFamily="18" charset="0"/>
              </a:rPr>
              <a:t> of the </a:t>
            </a:r>
            <a:r>
              <a:rPr lang="en-US" sz="1600" i="1" dirty="0" err="1" smtClean="0">
                <a:latin typeface="Times New Roman" pitchFamily="18" charset="0"/>
                <a:cs typeface="Times New Roman" pitchFamily="18" charset="0"/>
              </a:rPr>
              <a:t>csv</a:t>
            </a:r>
            <a:r>
              <a:rPr lang="en-US" sz="1600" i="1" dirty="0" smtClean="0">
                <a:latin typeface="Times New Roman" pitchFamily="18" charset="0"/>
                <a:cs typeface="Times New Roman" pitchFamily="18" charset="0"/>
              </a:rPr>
              <a:t> file) </a:t>
            </a:r>
            <a:r>
              <a:rPr lang="en-US" sz="1600" dirty="0" smtClean="0">
                <a:latin typeface="Times New Roman" pitchFamily="18" charset="0"/>
                <a:cs typeface="Times New Roman" pitchFamily="18" charset="0"/>
              </a:rPr>
              <a:t>function. Similarly, we can also read a </a:t>
            </a:r>
            <a:r>
              <a:rPr lang="en-US" sz="1600" dirty="0" err="1" smtClean="0">
                <a:latin typeface="Times New Roman" pitchFamily="18" charset="0"/>
                <a:cs typeface="Times New Roman" pitchFamily="18" charset="0"/>
              </a:rPr>
              <a:t>json</a:t>
            </a:r>
            <a:r>
              <a:rPr lang="en-US" sz="1600" dirty="0" smtClean="0">
                <a:latin typeface="Times New Roman" pitchFamily="18" charset="0"/>
                <a:cs typeface="Times New Roman" pitchFamily="18" charset="0"/>
              </a:rPr>
              <a:t> data using the </a:t>
            </a:r>
            <a:r>
              <a:rPr lang="en-US" sz="1600" i="1" dirty="0" err="1" smtClean="0">
                <a:latin typeface="Times New Roman" pitchFamily="18" charset="0"/>
                <a:cs typeface="Times New Roman" pitchFamily="18" charset="0"/>
              </a:rPr>
              <a:t>pandas.read_json</a:t>
            </a:r>
            <a:r>
              <a:rPr lang="en-US" sz="1600" i="1"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function</a:t>
            </a:r>
            <a:r>
              <a:rPr lang="en-US" sz="1600" i="1"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a table on a web page can be read using the</a:t>
            </a:r>
            <a:r>
              <a:rPr lang="en-US" sz="1600" i="1" dirty="0" smtClean="0">
                <a:latin typeface="Times New Roman" pitchFamily="18" charset="0"/>
                <a:cs typeface="Times New Roman" pitchFamily="18" charset="0"/>
              </a:rPr>
              <a:t> </a:t>
            </a:r>
            <a:r>
              <a:rPr lang="en-US" sz="1600" i="1" dirty="0" err="1" smtClean="0">
                <a:latin typeface="Times New Roman" pitchFamily="18" charset="0"/>
                <a:cs typeface="Times New Roman" pitchFamily="18" charset="0"/>
              </a:rPr>
              <a:t>pandas.read_html</a:t>
            </a:r>
            <a:r>
              <a:rPr lang="en-US" sz="1600" i="1"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function, and so on.</a:t>
            </a:r>
          </a:p>
          <a:p>
            <a:r>
              <a:rPr lang="en-US" sz="1600" dirty="0" smtClean="0">
                <a:latin typeface="Times New Roman" pitchFamily="18" charset="0"/>
                <a:cs typeface="Times New Roman" pitchFamily="18" charset="0"/>
              </a:rPr>
              <a:t>We can also inspect our data using pandas. The basic methods for inspecting data are shape, head(), tail(), info(), describe(),</a:t>
            </a:r>
          </a:p>
          <a:p>
            <a:r>
              <a:rPr lang="en-US" sz="1600" dirty="0" smtClean="0">
                <a:latin typeface="Times New Roman" pitchFamily="18" charset="0"/>
                <a:cs typeface="Times New Roman" pitchFamily="18" charset="0"/>
              </a:rPr>
              <a:t>To inspect data, we must read the data first. </a:t>
            </a:r>
          </a:p>
          <a:p>
            <a:r>
              <a:rPr lang="en-US" sz="1600" i="1" dirty="0" err="1" smtClean="0">
                <a:latin typeface="Times New Roman" pitchFamily="18" charset="0"/>
                <a:cs typeface="Times New Roman" pitchFamily="18" charset="0"/>
              </a:rPr>
              <a:t>df</a:t>
            </a:r>
            <a:r>
              <a:rPr lang="en-US" sz="1600" i="1" dirty="0" smtClean="0">
                <a:latin typeface="Times New Roman" pitchFamily="18" charset="0"/>
                <a:cs typeface="Times New Roman" pitchFamily="18" charset="0"/>
              </a:rPr>
              <a:t> = </a:t>
            </a:r>
            <a:r>
              <a:rPr lang="en-US" sz="1600" i="1" dirty="0" err="1" smtClean="0">
                <a:latin typeface="Times New Roman" pitchFamily="18" charset="0"/>
                <a:cs typeface="Times New Roman" pitchFamily="18" charset="0"/>
              </a:rPr>
              <a:t>pandas.read_csv</a:t>
            </a:r>
            <a:r>
              <a:rPr lang="en-US" sz="1600" i="1" dirty="0" smtClean="0">
                <a:latin typeface="Times New Roman" pitchFamily="18" charset="0"/>
                <a:cs typeface="Times New Roman" pitchFamily="18" charset="0"/>
              </a:rPr>
              <a:t>(</a:t>
            </a:r>
            <a:r>
              <a:rPr lang="en-US" sz="1600" i="1" dirty="0" err="1" smtClean="0">
                <a:latin typeface="Times New Roman" pitchFamily="18" charset="0"/>
                <a:cs typeface="Times New Roman" pitchFamily="18" charset="0"/>
              </a:rPr>
              <a:t>filepath</a:t>
            </a:r>
            <a:r>
              <a:rPr lang="en-US" sz="1600" i="1" dirty="0" smtClean="0">
                <a:latin typeface="Times New Roman" pitchFamily="18" charset="0"/>
                <a:cs typeface="Times New Roman" pitchFamily="18" charset="0"/>
              </a:rPr>
              <a:t> of the </a:t>
            </a:r>
            <a:r>
              <a:rPr lang="en-US" sz="1600" i="1" dirty="0" err="1" smtClean="0">
                <a:latin typeface="Times New Roman" pitchFamily="18" charset="0"/>
                <a:cs typeface="Times New Roman" pitchFamily="18" charset="0"/>
              </a:rPr>
              <a:t>csv</a:t>
            </a:r>
            <a:r>
              <a:rPr lang="en-US" sz="1600" i="1" dirty="0" smtClean="0">
                <a:latin typeface="Times New Roman" pitchFamily="18" charset="0"/>
                <a:cs typeface="Times New Roman" pitchFamily="18" charset="0"/>
              </a:rPr>
              <a:t> file)</a:t>
            </a:r>
          </a:p>
          <a:p>
            <a:r>
              <a:rPr lang="en-US" sz="1600" dirty="0" smtClean="0">
                <a:latin typeface="Times New Roman" pitchFamily="18" charset="0"/>
                <a:cs typeface="Times New Roman" pitchFamily="18" charset="0"/>
              </a:rPr>
              <a:t>To get the shape(number of rows and columns of the </a:t>
            </a:r>
            <a:r>
              <a:rPr lang="en-US" sz="1600" dirty="0" err="1" smtClean="0">
                <a:latin typeface="Times New Roman" pitchFamily="18" charset="0"/>
                <a:cs typeface="Times New Roman" pitchFamily="18" charset="0"/>
              </a:rPr>
              <a:t>dataframe</a:t>
            </a:r>
            <a:r>
              <a:rPr lang="en-US" sz="1600" dirty="0" smtClean="0">
                <a:latin typeface="Times New Roman" pitchFamily="18" charset="0"/>
                <a:cs typeface="Times New Roman" pitchFamily="18" charset="0"/>
              </a:rPr>
              <a:t>), we use </a:t>
            </a:r>
            <a:r>
              <a:rPr lang="en-US" sz="1600" i="1" dirty="0" err="1" smtClean="0">
                <a:latin typeface="Times New Roman" pitchFamily="18" charset="0"/>
                <a:cs typeface="Times New Roman" pitchFamily="18" charset="0"/>
              </a:rPr>
              <a:t>df.shape</a:t>
            </a:r>
            <a:endParaRPr lang="en-US" sz="1600" i="1"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To get the first five rows of the </a:t>
            </a:r>
            <a:r>
              <a:rPr lang="en-US" sz="1600" dirty="0" err="1" smtClean="0">
                <a:latin typeface="Times New Roman" pitchFamily="18" charset="0"/>
                <a:cs typeface="Times New Roman" pitchFamily="18" charset="0"/>
              </a:rPr>
              <a:t>dataframe</a:t>
            </a:r>
            <a:r>
              <a:rPr lang="en-US" sz="1600" dirty="0" smtClean="0">
                <a:latin typeface="Times New Roman" pitchFamily="18" charset="0"/>
                <a:cs typeface="Times New Roman" pitchFamily="18" charset="0"/>
              </a:rPr>
              <a:t>, we use </a:t>
            </a:r>
            <a:r>
              <a:rPr lang="en-US" sz="1600" i="1" dirty="0" err="1" smtClean="0">
                <a:latin typeface="Times New Roman" pitchFamily="18" charset="0"/>
                <a:cs typeface="Times New Roman" pitchFamily="18" charset="0"/>
              </a:rPr>
              <a:t>df.head</a:t>
            </a:r>
            <a:r>
              <a:rPr lang="en-US" sz="1600" i="1" dirty="0" smtClean="0">
                <a:latin typeface="Times New Roman" pitchFamily="18" charset="0"/>
                <a:cs typeface="Times New Roman" pitchFamily="18" charset="0"/>
              </a:rPr>
              <a:t>().</a:t>
            </a:r>
          </a:p>
          <a:p>
            <a:r>
              <a:rPr lang="en-US" sz="1600" dirty="0" smtClean="0">
                <a:latin typeface="Times New Roman" pitchFamily="18" charset="0"/>
                <a:cs typeface="Times New Roman" pitchFamily="18" charset="0"/>
              </a:rPr>
              <a:t>To get the first n rows of the </a:t>
            </a:r>
            <a:r>
              <a:rPr lang="en-US" sz="1600" dirty="0" err="1" smtClean="0">
                <a:latin typeface="Times New Roman" pitchFamily="18" charset="0"/>
                <a:cs typeface="Times New Roman" pitchFamily="18" charset="0"/>
              </a:rPr>
              <a:t>dataframe</a:t>
            </a:r>
            <a:r>
              <a:rPr lang="en-US" sz="1600" dirty="0" smtClean="0">
                <a:latin typeface="Times New Roman" pitchFamily="18" charset="0"/>
                <a:cs typeface="Times New Roman" pitchFamily="18" charset="0"/>
              </a:rPr>
              <a:t>, we use </a:t>
            </a:r>
            <a:r>
              <a:rPr lang="en-US" sz="1600" i="1" dirty="0" err="1" smtClean="0">
                <a:latin typeface="Times New Roman" pitchFamily="18" charset="0"/>
                <a:cs typeface="Times New Roman" pitchFamily="18" charset="0"/>
              </a:rPr>
              <a:t>df.head</a:t>
            </a:r>
            <a:r>
              <a:rPr lang="en-US" sz="1600" i="1" dirty="0" smtClean="0">
                <a:latin typeface="Times New Roman" pitchFamily="18" charset="0"/>
                <a:cs typeface="Times New Roman" pitchFamily="18" charset="0"/>
              </a:rPr>
              <a:t>(n)</a:t>
            </a:r>
          </a:p>
          <a:p>
            <a:r>
              <a:rPr lang="en-US" sz="1600" dirty="0" smtClean="0">
                <a:latin typeface="Times New Roman" pitchFamily="18" charset="0"/>
                <a:cs typeface="Times New Roman" pitchFamily="18" charset="0"/>
              </a:rPr>
              <a:t>To get the last five rows of the </a:t>
            </a:r>
            <a:r>
              <a:rPr lang="en-US" sz="1600" dirty="0" err="1" smtClean="0">
                <a:latin typeface="Times New Roman" pitchFamily="18" charset="0"/>
                <a:cs typeface="Times New Roman" pitchFamily="18" charset="0"/>
              </a:rPr>
              <a:t>dataframe</a:t>
            </a:r>
            <a:r>
              <a:rPr lang="en-US" sz="1600" dirty="0" smtClean="0">
                <a:latin typeface="Times New Roman" pitchFamily="18" charset="0"/>
                <a:cs typeface="Times New Roman" pitchFamily="18" charset="0"/>
              </a:rPr>
              <a:t>, we use </a:t>
            </a:r>
            <a:r>
              <a:rPr lang="en-US" sz="1600" i="1" dirty="0" err="1" smtClean="0">
                <a:latin typeface="Times New Roman" pitchFamily="18" charset="0"/>
                <a:cs typeface="Times New Roman" pitchFamily="18" charset="0"/>
              </a:rPr>
              <a:t>df.tail</a:t>
            </a:r>
            <a:r>
              <a:rPr lang="en-US" sz="1600" i="1" dirty="0" smtClean="0">
                <a:latin typeface="Times New Roman" pitchFamily="18" charset="0"/>
                <a:cs typeface="Times New Roman" pitchFamily="18" charset="0"/>
              </a:rPr>
              <a:t>().</a:t>
            </a:r>
          </a:p>
          <a:p>
            <a:r>
              <a:rPr lang="en-US" sz="1600" dirty="0" smtClean="0">
                <a:latin typeface="Times New Roman" pitchFamily="18" charset="0"/>
                <a:cs typeface="Times New Roman" pitchFamily="18" charset="0"/>
              </a:rPr>
              <a:t>To get the last n rows of the </a:t>
            </a:r>
            <a:r>
              <a:rPr lang="en-US" sz="1600" dirty="0" err="1" smtClean="0">
                <a:latin typeface="Times New Roman" pitchFamily="18" charset="0"/>
                <a:cs typeface="Times New Roman" pitchFamily="18" charset="0"/>
              </a:rPr>
              <a:t>dataframe</a:t>
            </a:r>
            <a:r>
              <a:rPr lang="en-US" sz="1600" dirty="0" smtClean="0">
                <a:latin typeface="Times New Roman" pitchFamily="18" charset="0"/>
                <a:cs typeface="Times New Roman" pitchFamily="18" charset="0"/>
              </a:rPr>
              <a:t>, we use </a:t>
            </a:r>
            <a:r>
              <a:rPr lang="en-US" sz="1600" i="1" dirty="0" err="1" smtClean="0">
                <a:latin typeface="Times New Roman" pitchFamily="18" charset="0"/>
                <a:cs typeface="Times New Roman" pitchFamily="18" charset="0"/>
              </a:rPr>
              <a:t>df.tail</a:t>
            </a:r>
            <a:r>
              <a:rPr lang="en-US" sz="1600" i="1" dirty="0" smtClean="0">
                <a:latin typeface="Times New Roman" pitchFamily="18" charset="0"/>
                <a:cs typeface="Times New Roman" pitchFamily="18" charset="0"/>
              </a:rPr>
              <a:t>(n)</a:t>
            </a:r>
          </a:p>
          <a:p>
            <a:r>
              <a:rPr lang="en-US" sz="1600" i="1" dirty="0" smtClean="0">
                <a:latin typeface="Times New Roman" pitchFamily="18" charset="0"/>
                <a:cs typeface="Times New Roman" pitchFamily="18" charset="0"/>
              </a:rPr>
              <a:t>df.info(</a:t>
            </a:r>
            <a:r>
              <a:rPr lang="en-US" sz="1600" dirty="0" smtClean="0">
                <a:latin typeface="Times New Roman" pitchFamily="18" charset="0"/>
                <a:cs typeface="Times New Roman" pitchFamily="18" charset="0"/>
              </a:rPr>
              <a:t>)  gives us every necessary information about the </a:t>
            </a:r>
            <a:r>
              <a:rPr lang="en-US" sz="1600" dirty="0" err="1" smtClean="0">
                <a:latin typeface="Times New Roman" pitchFamily="18" charset="0"/>
                <a:cs typeface="Times New Roman" pitchFamily="18" charset="0"/>
              </a:rPr>
              <a:t>dataframe</a:t>
            </a:r>
            <a:endParaRPr lang="en-US" sz="1600" dirty="0" smtClean="0">
              <a:latin typeface="Times New Roman" pitchFamily="18" charset="0"/>
              <a:cs typeface="Times New Roman" pitchFamily="18" charset="0"/>
            </a:endParaRPr>
          </a:p>
          <a:p>
            <a:r>
              <a:rPr lang="en-US" sz="1600" i="1" dirty="0" err="1" smtClean="0">
                <a:latin typeface="Times New Roman" pitchFamily="18" charset="0"/>
                <a:cs typeface="Times New Roman" pitchFamily="18" charset="0"/>
              </a:rPr>
              <a:t>df.describe</a:t>
            </a:r>
            <a:r>
              <a:rPr lang="en-US" sz="1600" i="1" dirty="0" smtClean="0">
                <a:latin typeface="Times New Roman" pitchFamily="18" charset="0"/>
                <a:cs typeface="Times New Roman" pitchFamily="18" charset="0"/>
              </a:rPr>
              <a:t>() gives us the statistical descriptions of the </a:t>
            </a:r>
            <a:r>
              <a:rPr lang="en-US" sz="1600" i="1" dirty="0" err="1" smtClean="0">
                <a:latin typeface="Times New Roman" pitchFamily="18" charset="0"/>
                <a:cs typeface="Times New Roman" pitchFamily="18" charset="0"/>
              </a:rPr>
              <a:t>dataframe</a:t>
            </a:r>
            <a:r>
              <a:rPr lang="en-US" sz="1600" i="1" dirty="0" smtClean="0">
                <a:latin typeface="Times New Roman" pitchFamily="18" charset="0"/>
                <a:cs typeface="Times New Roman" pitchFamily="18" charset="0"/>
              </a:rPr>
              <a:t> </a:t>
            </a:r>
            <a:r>
              <a:rPr lang="en-US" sz="1600" i="1" dirty="0" err="1" smtClean="0">
                <a:latin typeface="Times New Roman" pitchFamily="18" charset="0"/>
                <a:cs typeface="Times New Roman" pitchFamily="18" charset="0"/>
              </a:rPr>
              <a:t>eg</a:t>
            </a:r>
            <a:r>
              <a:rPr lang="en-US" sz="1600" i="1" dirty="0" smtClean="0">
                <a:latin typeface="Times New Roman" pitchFamily="18" charset="0"/>
                <a:cs typeface="Times New Roman" pitchFamily="18" charset="0"/>
              </a:rPr>
              <a:t> mean, mode, max, min, etc</a:t>
            </a:r>
          </a:p>
          <a:p>
            <a:endParaRPr lang="en-US" sz="1600" dirty="0" smtClean="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a:bodyPr>
          <a:lstStyle/>
          <a:p>
            <a:r>
              <a:rPr lang="en-US" sz="2000" dirty="0" smtClean="0"/>
              <a:t>Preparing Data for Analysis</a:t>
            </a:r>
            <a:endParaRPr lang="en-US" sz="2000" dirty="0"/>
          </a:p>
        </p:txBody>
      </p:sp>
      <p:sp>
        <p:nvSpPr>
          <p:cNvPr id="3" name="Content Placeholder 2"/>
          <p:cNvSpPr>
            <a:spLocks noGrp="1"/>
          </p:cNvSpPr>
          <p:nvPr>
            <p:ph idx="1"/>
          </p:nvPr>
        </p:nvSpPr>
        <p:spPr>
          <a:xfrm>
            <a:off x="228600" y="685800"/>
            <a:ext cx="8915400" cy="6172200"/>
          </a:xfrm>
        </p:spPr>
        <p:txBody>
          <a:bodyPr>
            <a:normAutofit/>
          </a:bodyPr>
          <a:lstStyle/>
          <a:p>
            <a:r>
              <a:rPr lang="en-US" sz="1100" dirty="0" smtClean="0"/>
              <a:t>To prepare a </a:t>
            </a:r>
            <a:r>
              <a:rPr lang="en-US" sz="1100" dirty="0" err="1" smtClean="0"/>
              <a:t>dataframe</a:t>
            </a:r>
            <a:r>
              <a:rPr lang="en-US" sz="1100" dirty="0" smtClean="0"/>
              <a:t> for analysis, there are a number of tasks to be done. This includes handling missing values, removing duplicates, renaming columns, changing </a:t>
            </a:r>
            <a:r>
              <a:rPr lang="en-US" sz="1100" dirty="0" err="1" smtClean="0"/>
              <a:t>datatypes</a:t>
            </a:r>
            <a:r>
              <a:rPr lang="en-US" sz="1100" dirty="0" smtClean="0"/>
              <a:t>, filtering records, etc.</a:t>
            </a:r>
          </a:p>
          <a:p>
            <a:r>
              <a:rPr lang="en-US" sz="1100" dirty="0" smtClean="0"/>
              <a:t>From our goals contribution </a:t>
            </a:r>
            <a:r>
              <a:rPr lang="en-US" sz="1100" dirty="0" err="1" smtClean="0"/>
              <a:t>dataframe</a:t>
            </a:r>
            <a:r>
              <a:rPr lang="en-US" sz="1100" dirty="0" smtClean="0"/>
              <a:t>, let us we add a new player with missing values, let us also duplicate the Assists column.</a:t>
            </a:r>
          </a:p>
          <a:p>
            <a:r>
              <a:rPr lang="en-US" sz="1100" dirty="0" smtClean="0"/>
              <a:t> Before we begin to analyze this data, a very important step is to remove all missing items. In this case, Raya has missing goals and missing assists, so we remove him from the </a:t>
            </a:r>
            <a:r>
              <a:rPr lang="en-US" sz="1100" dirty="0" err="1" smtClean="0"/>
              <a:t>dataframe</a:t>
            </a:r>
            <a:r>
              <a:rPr lang="en-US" sz="1100" dirty="0" smtClean="0"/>
              <a:t>. </a:t>
            </a:r>
          </a:p>
          <a:p>
            <a:r>
              <a:rPr lang="en-US" sz="1100" dirty="0" smtClean="0"/>
              <a:t>To do this we simply </a:t>
            </a:r>
            <a:r>
              <a:rPr lang="en-US" sz="1100" i="1" dirty="0" err="1" smtClean="0"/>
              <a:t>df.fillna</a:t>
            </a:r>
            <a:r>
              <a:rPr lang="en-US" sz="1100" i="1" dirty="0" smtClean="0"/>
              <a:t>(0, </a:t>
            </a:r>
            <a:r>
              <a:rPr lang="en-US" sz="1100" i="1" dirty="0" err="1" smtClean="0"/>
              <a:t>inplace</a:t>
            </a:r>
            <a:r>
              <a:rPr lang="en-US" sz="1100" i="1" dirty="0" smtClean="0"/>
              <a:t>=True). </a:t>
            </a:r>
            <a:r>
              <a:rPr lang="en-US" sz="1100" dirty="0" smtClean="0"/>
              <a:t>This tells the </a:t>
            </a:r>
            <a:r>
              <a:rPr lang="en-US" sz="1100" dirty="0" err="1" smtClean="0"/>
              <a:t>dataframe</a:t>
            </a:r>
            <a:r>
              <a:rPr lang="en-US" sz="1100" dirty="0" smtClean="0"/>
              <a:t> to replace all missing items with a value of 0. Also, we have to remove the duplicate column(Assisted) from the </a:t>
            </a:r>
            <a:r>
              <a:rPr lang="en-US" sz="1100" dirty="0" err="1" smtClean="0"/>
              <a:t>dataframe</a:t>
            </a:r>
            <a:r>
              <a:rPr lang="en-US" sz="1100" dirty="0" smtClean="0"/>
              <a:t>. To do this,  </a:t>
            </a:r>
            <a:r>
              <a:rPr lang="en-US" sz="1100" i="1" dirty="0" err="1" smtClean="0"/>
              <a:t>df.drop</a:t>
            </a:r>
            <a:r>
              <a:rPr lang="en-US" sz="1100" i="1" dirty="0" smtClean="0"/>
              <a:t>(columns=[‘Assisted’, </a:t>
            </a:r>
            <a:r>
              <a:rPr lang="en-US" sz="1100" i="1" dirty="0" err="1" smtClean="0"/>
              <a:t>inplace</a:t>
            </a:r>
            <a:r>
              <a:rPr lang="en-US" sz="1100" i="1" dirty="0" smtClean="0"/>
              <a:t>=True]</a:t>
            </a:r>
            <a:endParaRPr lang="en-US" sz="1100" dirty="0" smtClean="0"/>
          </a:p>
          <a:p>
            <a:endParaRPr lang="en-US" sz="1100" dirty="0" smtClean="0"/>
          </a:p>
          <a:p>
            <a:endParaRPr lang="en-US" sz="1100" dirty="0" smtClean="0"/>
          </a:p>
          <a:p>
            <a:endParaRPr lang="en-US" sz="1100" dirty="0" smtClean="0"/>
          </a:p>
          <a:p>
            <a:endParaRPr lang="en-US" sz="1100" dirty="0" smtClean="0"/>
          </a:p>
          <a:p>
            <a:endParaRPr lang="en-US" sz="1100" dirty="0" smtClean="0"/>
          </a:p>
          <a:p>
            <a:endParaRPr lang="en-US" sz="1100" dirty="0" smtClean="0"/>
          </a:p>
          <a:p>
            <a:endParaRPr lang="en-US" sz="1100" dirty="0" smtClean="0"/>
          </a:p>
          <a:p>
            <a:endParaRPr lang="en-US" sz="1100" dirty="0" smtClean="0"/>
          </a:p>
          <a:p>
            <a:endParaRPr lang="en-US" sz="1100" dirty="0" smtClean="0"/>
          </a:p>
          <a:p>
            <a:endParaRPr lang="en-US" sz="1100" dirty="0" smtClean="0"/>
          </a:p>
          <a:p>
            <a:endParaRPr lang="en-US" sz="1100" dirty="0" smtClean="0"/>
          </a:p>
          <a:p>
            <a:endParaRPr lang="en-US" sz="1100" dirty="0" smtClean="0"/>
          </a:p>
          <a:p>
            <a:endParaRPr lang="en-US" sz="1100" dirty="0" smtClean="0"/>
          </a:p>
          <a:p>
            <a:r>
              <a:rPr lang="en-US" sz="1100" dirty="0" smtClean="0"/>
              <a:t>We can also filter the </a:t>
            </a:r>
            <a:r>
              <a:rPr lang="en-US" sz="1100" dirty="0" err="1" smtClean="0"/>
              <a:t>dataframe</a:t>
            </a:r>
            <a:r>
              <a:rPr lang="en-US" sz="1100" dirty="0" smtClean="0"/>
              <a:t> by some condition. For example, suppose we want to get the names of all the players that scored more than 11 goals during the season, </a:t>
            </a:r>
          </a:p>
          <a:p>
            <a:r>
              <a:rPr lang="en-US" sz="1100" i="1" dirty="0" err="1" smtClean="0"/>
              <a:t>filt</a:t>
            </a:r>
            <a:r>
              <a:rPr lang="en-US" sz="1100" i="1" dirty="0" smtClean="0"/>
              <a:t> = </a:t>
            </a:r>
            <a:r>
              <a:rPr lang="en-US" sz="1100" i="1" dirty="0" err="1" smtClean="0"/>
              <a:t>df</a:t>
            </a:r>
            <a:r>
              <a:rPr lang="en-US" sz="1100" i="1" dirty="0" smtClean="0"/>
              <a:t>[‘Goals’] &gt; 11</a:t>
            </a:r>
          </a:p>
          <a:p>
            <a:r>
              <a:rPr lang="en-US" sz="1100" i="1" dirty="0" smtClean="0"/>
              <a:t>df.loc[</a:t>
            </a:r>
            <a:r>
              <a:rPr lang="en-US" sz="1100" i="1" dirty="0" err="1" smtClean="0"/>
              <a:t>filt</a:t>
            </a:r>
            <a:r>
              <a:rPr lang="en-US" sz="1100" i="1" dirty="0" smtClean="0"/>
              <a:t>]</a:t>
            </a:r>
          </a:p>
          <a:p>
            <a:endParaRPr lang="en-US" sz="1100" i="1" dirty="0"/>
          </a:p>
        </p:txBody>
      </p:sp>
      <p:pic>
        <p:nvPicPr>
          <p:cNvPr id="7" name="Picture 6" descr="new_player.png"/>
          <p:cNvPicPr>
            <a:picLocks noChangeAspect="1"/>
          </p:cNvPicPr>
          <p:nvPr/>
        </p:nvPicPr>
        <p:blipFill>
          <a:blip r:embed="rId2"/>
          <a:stretch>
            <a:fillRect/>
          </a:stretch>
        </p:blipFill>
        <p:spPr>
          <a:xfrm>
            <a:off x="457200" y="2133600"/>
            <a:ext cx="2590800" cy="1900085"/>
          </a:xfrm>
          <a:prstGeom prst="rect">
            <a:avLst/>
          </a:prstGeom>
        </p:spPr>
      </p:pic>
      <p:pic>
        <p:nvPicPr>
          <p:cNvPr id="9" name="Picture 8" descr="drop.png"/>
          <p:cNvPicPr>
            <a:picLocks noChangeAspect="1"/>
          </p:cNvPicPr>
          <p:nvPr/>
        </p:nvPicPr>
        <p:blipFill>
          <a:blip r:embed="rId3" cstate="print"/>
          <a:stretch>
            <a:fillRect/>
          </a:stretch>
        </p:blipFill>
        <p:spPr>
          <a:xfrm>
            <a:off x="3657600" y="2133600"/>
            <a:ext cx="2895600" cy="1905000"/>
          </a:xfrm>
          <a:prstGeom prst="rect">
            <a:avLst/>
          </a:prstGeom>
        </p:spPr>
      </p:pic>
      <p:pic>
        <p:nvPicPr>
          <p:cNvPr id="6" name="Picture 5" descr="goalFilt.png"/>
          <p:cNvPicPr>
            <a:picLocks noChangeAspect="1"/>
          </p:cNvPicPr>
          <p:nvPr/>
        </p:nvPicPr>
        <p:blipFill>
          <a:blip r:embed="rId4"/>
          <a:stretch>
            <a:fillRect/>
          </a:stretch>
        </p:blipFill>
        <p:spPr>
          <a:xfrm>
            <a:off x="2514601" y="4995968"/>
            <a:ext cx="2362200" cy="170374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Data Analysis and Aggregation</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Pandas can also be used to get the statistical properties(mean, median, mode, min, max, etc) of the dataset. For example, we can check the total number of goals with </a:t>
            </a:r>
            <a:r>
              <a:rPr lang="en-US" i="1" dirty="0" smtClean="0"/>
              <a:t>sum(</a:t>
            </a:r>
            <a:r>
              <a:rPr lang="en-US" i="1" dirty="0" err="1" smtClean="0"/>
              <a:t>df</a:t>
            </a:r>
            <a:r>
              <a:rPr lang="en-US" i="1" dirty="0" smtClean="0"/>
              <a:t>['Goals</a:t>
            </a:r>
            <a:r>
              <a:rPr lang="en-US" i="1" dirty="0" smtClean="0"/>
              <a:t>'])</a:t>
            </a:r>
            <a:r>
              <a:rPr lang="en-US" dirty="0" smtClean="0"/>
              <a:t>, </a:t>
            </a:r>
          </a:p>
          <a:p>
            <a:pPr>
              <a:buNone/>
            </a:pPr>
            <a:r>
              <a:rPr lang="en-US" dirty="0" smtClean="0"/>
              <a:t>we can get average number of goals scored per season </a:t>
            </a:r>
            <a:r>
              <a:rPr lang="en-US" i="1" dirty="0" err="1" smtClean="0"/>
              <a:t>df</a:t>
            </a:r>
            <a:r>
              <a:rPr lang="en-US" i="1" dirty="0" smtClean="0"/>
              <a:t>['Goals'].mean</a:t>
            </a:r>
            <a:r>
              <a:rPr lang="en-US" i="1" dirty="0" smtClean="0"/>
              <a:t>()</a:t>
            </a:r>
            <a:r>
              <a:rPr lang="en-US" dirty="0" smtClean="0"/>
              <a:t>,</a:t>
            </a:r>
          </a:p>
          <a:p>
            <a:pPr>
              <a:buNone/>
            </a:pPr>
            <a:r>
              <a:rPr lang="en-US" dirty="0" smtClean="0"/>
              <a:t>we can get the player with the highest assists </a:t>
            </a:r>
            <a:r>
              <a:rPr lang="en-US" i="1" dirty="0" smtClean="0"/>
              <a:t>df.loc[</a:t>
            </a:r>
            <a:r>
              <a:rPr lang="en-US" i="1" dirty="0" err="1" smtClean="0"/>
              <a:t>df</a:t>
            </a:r>
            <a:r>
              <a:rPr lang="en-US" i="1" dirty="0" smtClean="0"/>
              <a:t>['Assists']==max(</a:t>
            </a:r>
            <a:r>
              <a:rPr lang="en-US" i="1" dirty="0" err="1" smtClean="0"/>
              <a:t>df</a:t>
            </a:r>
            <a:r>
              <a:rPr lang="en-US" i="1" dirty="0" smtClean="0"/>
              <a:t>['Assists</a:t>
            </a:r>
            <a:r>
              <a:rPr lang="en-US" i="1" dirty="0" smtClean="0"/>
              <a:t>'])], </a:t>
            </a:r>
          </a:p>
          <a:p>
            <a:pPr>
              <a:buNone/>
            </a:pPr>
            <a:r>
              <a:rPr lang="en-US" dirty="0" smtClean="0"/>
              <a:t>we can also check the player with the lowest number of goals </a:t>
            </a:r>
            <a:r>
              <a:rPr lang="en-US" i="1" dirty="0" smtClean="0"/>
              <a:t>df.loc[</a:t>
            </a:r>
            <a:r>
              <a:rPr lang="en-US" i="1" dirty="0" err="1" smtClean="0"/>
              <a:t>df</a:t>
            </a:r>
            <a:r>
              <a:rPr lang="en-US" i="1" dirty="0" smtClean="0"/>
              <a:t>['Assists']==min(</a:t>
            </a:r>
            <a:r>
              <a:rPr lang="en-US" i="1" dirty="0" err="1" smtClean="0"/>
              <a:t>df</a:t>
            </a:r>
            <a:r>
              <a:rPr lang="en-US" i="1" dirty="0" smtClean="0"/>
              <a:t>['Assists</a:t>
            </a:r>
            <a:r>
              <a:rPr lang="en-US" i="1" dirty="0" smtClean="0"/>
              <a:t>'])]</a:t>
            </a:r>
          </a:p>
          <a:p>
            <a:pPr>
              <a:buNone/>
            </a:pPr>
            <a:r>
              <a:rPr lang="en-US" dirty="0" smtClean="0"/>
              <a:t>We can also sort the </a:t>
            </a:r>
            <a:r>
              <a:rPr lang="en-US" dirty="0" err="1" smtClean="0"/>
              <a:t>dataframe</a:t>
            </a:r>
            <a:r>
              <a:rPr lang="en-US" dirty="0" smtClean="0"/>
              <a:t> according to the Goals column</a:t>
            </a:r>
            <a:endParaRPr lang="en-US" dirty="0" smtClean="0"/>
          </a:p>
          <a:p>
            <a:pPr>
              <a:buNone/>
            </a:pPr>
            <a:r>
              <a:rPr lang="en-US" i="1" dirty="0" err="1" smtClean="0"/>
              <a:t>df.sort_values</a:t>
            </a:r>
            <a:r>
              <a:rPr lang="en-US" i="1" dirty="0" smtClean="0"/>
              <a:t>(by='Goals</a:t>
            </a:r>
            <a:r>
              <a:rPr lang="en-US" i="1" dirty="0" smtClean="0"/>
              <a:t>')</a:t>
            </a:r>
            <a:endParaRPr lang="en-US" i="1"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229600" cy="609600"/>
          </a:xfrm>
        </p:spPr>
        <p:txBody>
          <a:bodyPr>
            <a:normAutofit fontScale="90000"/>
          </a:bodyPr>
          <a:lstStyle/>
          <a:p>
            <a:r>
              <a:rPr lang="en-US" dirty="0" smtClean="0"/>
              <a:t>Visualization</a:t>
            </a:r>
            <a:endParaRPr lang="en-US" dirty="0"/>
          </a:p>
        </p:txBody>
      </p:sp>
      <p:sp>
        <p:nvSpPr>
          <p:cNvPr id="3" name="Content Placeholder 2"/>
          <p:cNvSpPr>
            <a:spLocks noGrp="1"/>
          </p:cNvSpPr>
          <p:nvPr>
            <p:ph idx="1"/>
          </p:nvPr>
        </p:nvSpPr>
        <p:spPr>
          <a:xfrm>
            <a:off x="152400" y="762000"/>
            <a:ext cx="8534400" cy="5364163"/>
          </a:xfrm>
        </p:spPr>
        <p:txBody>
          <a:bodyPr>
            <a:normAutofit fontScale="25000" lnSpcReduction="20000"/>
          </a:bodyPr>
          <a:lstStyle/>
          <a:p>
            <a:r>
              <a:rPr lang="en-US" dirty="0" smtClean="0">
                <a:latin typeface="Times New Roman" pitchFamily="18" charset="0"/>
                <a:cs typeface="Times New Roman" pitchFamily="18" charset="0"/>
              </a:rPr>
              <a:t>We can also visualize data using pandas. But for the sake of this presentation, I’d use a different python library(</a:t>
            </a:r>
            <a:r>
              <a:rPr lang="en-US" dirty="0" err="1" smtClean="0">
                <a:latin typeface="Times New Roman" pitchFamily="18" charset="0"/>
                <a:cs typeface="Times New Roman" pitchFamily="18" charset="0"/>
              </a:rPr>
              <a:t>matplotlib</a:t>
            </a:r>
            <a:r>
              <a:rPr lang="en-US" dirty="0" smtClean="0">
                <a:latin typeface="Times New Roman" pitchFamily="18" charset="0"/>
                <a:cs typeface="Times New Roman" pitchFamily="18" charset="0"/>
              </a:rPr>
              <a:t>) for our visualizations</a:t>
            </a:r>
          </a:p>
          <a:p>
            <a:r>
              <a:rPr lang="en-US" dirty="0" smtClean="0">
                <a:latin typeface="Times New Roman" pitchFamily="18" charset="0"/>
                <a:cs typeface="Times New Roman" pitchFamily="18" charset="0"/>
              </a:rPr>
              <a:t>To begin with </a:t>
            </a:r>
            <a:r>
              <a:rPr lang="en-US" dirty="0" err="1" smtClean="0">
                <a:latin typeface="Times New Roman" pitchFamily="18" charset="0"/>
                <a:cs typeface="Times New Roman" pitchFamily="18" charset="0"/>
              </a:rPr>
              <a:t>matplotlib</a:t>
            </a:r>
            <a:r>
              <a:rPr lang="en-US" dirty="0" smtClean="0">
                <a:latin typeface="Times New Roman" pitchFamily="18" charset="0"/>
                <a:cs typeface="Times New Roman" pitchFamily="18" charset="0"/>
              </a:rPr>
              <a:t>, we head to our terminal and install it using pip with the following command</a:t>
            </a:r>
          </a:p>
          <a:p>
            <a:r>
              <a:rPr lang="en-US" i="1" dirty="0" smtClean="0">
                <a:latin typeface="Times New Roman" pitchFamily="18" charset="0"/>
                <a:cs typeface="Times New Roman" pitchFamily="18" charset="0"/>
              </a:rPr>
              <a:t>p</a:t>
            </a:r>
            <a:r>
              <a:rPr lang="en-US" i="1" dirty="0" smtClean="0">
                <a:latin typeface="Times New Roman" pitchFamily="18" charset="0"/>
                <a:cs typeface="Times New Roman" pitchFamily="18" charset="0"/>
              </a:rPr>
              <a:t>ip install </a:t>
            </a:r>
            <a:r>
              <a:rPr lang="en-US" i="1" dirty="0" err="1" smtClean="0">
                <a:latin typeface="Times New Roman" pitchFamily="18" charset="0"/>
                <a:cs typeface="Times New Roman" pitchFamily="18" charset="0"/>
              </a:rPr>
              <a:t>matplotlib</a:t>
            </a:r>
            <a:endParaRPr lang="en-US" i="1"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When this has been successfully installed, we can now begin our visualizations.</a:t>
            </a:r>
          </a:p>
          <a:p>
            <a:r>
              <a:rPr lang="en-US" dirty="0" smtClean="0">
                <a:latin typeface="Times New Roman" pitchFamily="18" charset="0"/>
                <a:cs typeface="Times New Roman" pitchFamily="18" charset="0"/>
              </a:rPr>
              <a:t>We can draw a simple bar chart showing the number of goals scored by all the players using the code below</a:t>
            </a:r>
          </a:p>
          <a:p>
            <a:endParaRPr lang="en-US" dirty="0" smtClean="0"/>
          </a:p>
          <a:p>
            <a:endParaRPr lang="en-US" dirty="0" smtClean="0"/>
          </a:p>
          <a:p>
            <a:r>
              <a:rPr lang="en-US" i="1" dirty="0" smtClean="0"/>
              <a:t>from </a:t>
            </a:r>
            <a:r>
              <a:rPr lang="en-US" i="1" dirty="0" err="1" smtClean="0"/>
              <a:t>matplotlib</a:t>
            </a:r>
            <a:r>
              <a:rPr lang="en-US" i="1" dirty="0" smtClean="0"/>
              <a:t> import </a:t>
            </a:r>
            <a:r>
              <a:rPr lang="en-US" i="1" dirty="0" err="1" smtClean="0"/>
              <a:t>pyplot</a:t>
            </a:r>
            <a:r>
              <a:rPr lang="en-US" i="1" dirty="0" smtClean="0"/>
              <a:t> as </a:t>
            </a:r>
            <a:r>
              <a:rPr lang="en-US" i="1" dirty="0" err="1" smtClean="0"/>
              <a:t>pyplot</a:t>
            </a:r>
            <a:endParaRPr lang="en-US" i="1" dirty="0" smtClean="0"/>
          </a:p>
          <a:p>
            <a:endParaRPr lang="en-US" dirty="0" smtClean="0"/>
          </a:p>
          <a:p>
            <a:r>
              <a:rPr lang="en-US" i="1" dirty="0" err="1" smtClean="0"/>
              <a:t>p</a:t>
            </a:r>
            <a:r>
              <a:rPr lang="en-US" i="1" dirty="0" err="1" smtClean="0"/>
              <a:t>lt.style.use</a:t>
            </a:r>
            <a:r>
              <a:rPr lang="en-US" i="1" dirty="0" smtClean="0"/>
              <a:t>(“</a:t>
            </a:r>
            <a:r>
              <a:rPr lang="en-US" i="1" dirty="0" err="1" smtClean="0"/>
              <a:t>fivethirtyeight</a:t>
            </a:r>
            <a:r>
              <a:rPr lang="en-US" i="1" dirty="0" smtClean="0"/>
              <a:t>”)</a:t>
            </a:r>
            <a:r>
              <a:rPr lang="en-US" dirty="0" smtClean="0"/>
              <a:t/>
            </a:r>
            <a:br>
              <a:rPr lang="en-US" dirty="0" smtClean="0"/>
            </a:br>
            <a:r>
              <a:rPr lang="en-US" i="1" dirty="0" err="1" smtClean="0"/>
              <a:t>plt.title</a:t>
            </a:r>
            <a:r>
              <a:rPr lang="en-US" i="1" dirty="0" smtClean="0"/>
              <a:t>('Bar Chart showing the number of goals scored this season by some Arsenal players')</a:t>
            </a:r>
          </a:p>
          <a:p>
            <a:r>
              <a:rPr lang="en-US" i="1" dirty="0" err="1" smtClean="0"/>
              <a:t>plt.xlabel</a:t>
            </a:r>
            <a:r>
              <a:rPr lang="en-US" i="1" dirty="0" smtClean="0"/>
              <a:t>('Players')</a:t>
            </a:r>
          </a:p>
          <a:p>
            <a:r>
              <a:rPr lang="en-US" i="1" dirty="0" err="1" smtClean="0"/>
              <a:t>plt.ylabel</a:t>
            </a:r>
            <a:r>
              <a:rPr lang="en-US" i="1" dirty="0" smtClean="0"/>
              <a:t>('Number of Goals')</a:t>
            </a:r>
          </a:p>
          <a:p>
            <a:r>
              <a:rPr lang="en-US" i="1" dirty="0" smtClean="0"/>
              <a:t>plt.bar(</a:t>
            </a:r>
            <a:r>
              <a:rPr lang="en-US" i="1" dirty="0" err="1" smtClean="0"/>
              <a:t>df</a:t>
            </a:r>
            <a:r>
              <a:rPr lang="en-US" i="1" dirty="0" smtClean="0"/>
              <a:t>['Names'], </a:t>
            </a:r>
            <a:r>
              <a:rPr lang="en-US" i="1" dirty="0" err="1" smtClean="0"/>
              <a:t>df</a:t>
            </a:r>
            <a:r>
              <a:rPr lang="en-US" i="1" dirty="0" smtClean="0"/>
              <a:t>['Goals'],)</a:t>
            </a:r>
          </a:p>
          <a:p>
            <a:r>
              <a:rPr lang="en-US" i="1" dirty="0" err="1" smtClean="0"/>
              <a:t>plt.show</a:t>
            </a:r>
            <a:endParaRPr lang="en-US" i="1" dirty="0" smtClean="0"/>
          </a:p>
          <a:p>
            <a:endParaRPr lang="en-US" i="1" dirty="0" smtClean="0"/>
          </a:p>
          <a:p>
            <a:r>
              <a:rPr lang="en-US" dirty="0" smtClean="0">
                <a:latin typeface="Times New Roman" pitchFamily="18" charset="0"/>
                <a:cs typeface="Times New Roman" pitchFamily="18" charset="0"/>
              </a:rPr>
              <a:t>For the sake of space, we are going to show the results of all our visualization codes in the next slide</a:t>
            </a:r>
          </a:p>
          <a:p>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We can also visualize the number of assists by the players using a pie chart</a:t>
            </a:r>
          </a:p>
          <a:p>
            <a:r>
              <a:rPr lang="en-US" i="1" dirty="0" err="1" smtClean="0"/>
              <a:t>plt.style.use</a:t>
            </a:r>
            <a:r>
              <a:rPr lang="en-US" i="1" dirty="0" smtClean="0"/>
              <a:t>('</a:t>
            </a:r>
            <a:r>
              <a:rPr lang="en-US" i="1" dirty="0" err="1" smtClean="0"/>
              <a:t>fivethirtyeight</a:t>
            </a:r>
            <a:r>
              <a:rPr lang="en-US" i="1" dirty="0" smtClean="0"/>
              <a:t>')</a:t>
            </a:r>
          </a:p>
          <a:p>
            <a:r>
              <a:rPr lang="en-US" i="1" dirty="0" err="1" smtClean="0"/>
              <a:t>wedgeprops</a:t>
            </a:r>
            <a:r>
              <a:rPr lang="en-US" i="1" dirty="0" smtClean="0"/>
              <a:t> = {'</a:t>
            </a:r>
            <a:r>
              <a:rPr lang="en-US" i="1" dirty="0" err="1" smtClean="0"/>
              <a:t>edgecolor</a:t>
            </a:r>
            <a:r>
              <a:rPr lang="en-US" i="1" dirty="0" smtClean="0"/>
              <a:t>': 'black'}</a:t>
            </a:r>
          </a:p>
          <a:p>
            <a:r>
              <a:rPr lang="en-US" i="1" dirty="0" err="1" smtClean="0"/>
              <a:t>plt.title</a:t>
            </a:r>
            <a:r>
              <a:rPr lang="en-US" i="1" dirty="0" smtClean="0"/>
              <a:t>('''Pie Chart showing the number of goals </a:t>
            </a:r>
          </a:p>
          <a:p>
            <a:r>
              <a:rPr lang="en-US" i="1" dirty="0" smtClean="0"/>
              <a:t>          scored this season by some Arsenal players''')</a:t>
            </a:r>
          </a:p>
          <a:p>
            <a:r>
              <a:rPr lang="en-US" i="1" dirty="0" smtClean="0"/>
              <a:t>labels = [</a:t>
            </a:r>
            <a:r>
              <a:rPr lang="en-US" i="1" dirty="0" err="1" smtClean="0"/>
              <a:t>i</a:t>
            </a:r>
            <a:r>
              <a:rPr lang="en-US" i="1" dirty="0" smtClean="0"/>
              <a:t> for </a:t>
            </a:r>
            <a:r>
              <a:rPr lang="en-US" i="1" dirty="0" err="1" smtClean="0"/>
              <a:t>i</a:t>
            </a:r>
            <a:r>
              <a:rPr lang="en-US" i="1" dirty="0" smtClean="0"/>
              <a:t> in </a:t>
            </a:r>
            <a:r>
              <a:rPr lang="en-US" i="1" dirty="0" err="1" smtClean="0"/>
              <a:t>df</a:t>
            </a:r>
            <a:r>
              <a:rPr lang="en-US" i="1" dirty="0" smtClean="0"/>
              <a:t>['Names']]</a:t>
            </a:r>
          </a:p>
          <a:p>
            <a:r>
              <a:rPr lang="en-US" i="1" dirty="0" smtClean="0"/>
              <a:t>plt.pie(</a:t>
            </a:r>
            <a:r>
              <a:rPr lang="en-US" i="1" dirty="0" err="1" smtClean="0"/>
              <a:t>df</a:t>
            </a:r>
            <a:r>
              <a:rPr lang="en-US" i="1" dirty="0" smtClean="0"/>
              <a:t>['Goals'], labels=labels, </a:t>
            </a:r>
            <a:r>
              <a:rPr lang="en-US" i="1" dirty="0" err="1" smtClean="0"/>
              <a:t>wedgeprops</a:t>
            </a:r>
            <a:r>
              <a:rPr lang="en-US" i="1" dirty="0" smtClean="0"/>
              <a:t>=</a:t>
            </a:r>
            <a:r>
              <a:rPr lang="en-US" i="1" dirty="0" err="1" smtClean="0"/>
              <a:t>wedgeprops</a:t>
            </a:r>
            <a:r>
              <a:rPr lang="en-US" i="1" dirty="0" smtClean="0"/>
              <a:t>)</a:t>
            </a:r>
          </a:p>
          <a:p>
            <a:r>
              <a:rPr lang="en-US" i="1" dirty="0" err="1" smtClean="0"/>
              <a:t>plt.tight_layout</a:t>
            </a:r>
            <a:r>
              <a:rPr lang="en-US" i="1" dirty="0" smtClean="0"/>
              <a:t>()</a:t>
            </a:r>
          </a:p>
          <a:p>
            <a:r>
              <a:rPr lang="en-US" i="1" dirty="0" err="1" smtClean="0">
                <a:latin typeface="Times New Roman" pitchFamily="18" charset="0"/>
                <a:cs typeface="Times New Roman" pitchFamily="18" charset="0"/>
              </a:rPr>
              <a:t>plt.show</a:t>
            </a:r>
            <a:r>
              <a:rPr lang="en-US" i="1" dirty="0" smtClean="0">
                <a:latin typeface="Times New Roman" pitchFamily="18" charset="0"/>
                <a:cs typeface="Times New Roman" pitchFamily="18" charset="0"/>
              </a:rPr>
              <a:t>()</a:t>
            </a:r>
          </a:p>
          <a:p>
            <a:endParaRPr lang="en-US" i="1" dirty="0" smtClean="0">
              <a:latin typeface="Times New Roman" pitchFamily="18" charset="0"/>
              <a:cs typeface="Times New Roman" pitchFamily="18" charset="0"/>
            </a:endParaRPr>
          </a:p>
          <a:p>
            <a:pPr>
              <a:buNone/>
            </a:pPr>
            <a:r>
              <a:rPr lang="en-US" i="1" dirty="0" smtClean="0">
                <a:latin typeface="Times New Roman" pitchFamily="18" charset="0"/>
                <a:cs typeface="Times New Roman" pitchFamily="18" charset="0"/>
              </a:rPr>
              <a:t>We can also use a multiple bar chart to show the number of goals and the number of assists</a:t>
            </a:r>
          </a:p>
          <a:p>
            <a:pPr>
              <a:buNone/>
            </a:pPr>
            <a:endParaRPr lang="en-US" i="1" dirty="0" smtClean="0"/>
          </a:p>
          <a:p>
            <a:r>
              <a:rPr lang="en-US" dirty="0" smtClean="0"/>
              <a:t/>
            </a:r>
            <a:br>
              <a:rPr lang="en-US" dirty="0" smtClean="0"/>
            </a:br>
            <a:r>
              <a:rPr lang="en-US" i="1" dirty="0" smtClean="0"/>
              <a:t>w, x = 0.4, </a:t>
            </a:r>
            <a:r>
              <a:rPr lang="en-US" i="1" dirty="0" err="1" smtClean="0"/>
              <a:t>numpy.arange</a:t>
            </a:r>
            <a:r>
              <a:rPr lang="en-US" i="1" dirty="0" smtClean="0"/>
              <a:t>(</a:t>
            </a:r>
            <a:r>
              <a:rPr lang="en-US" i="1" dirty="0" err="1" smtClean="0"/>
              <a:t>len</a:t>
            </a:r>
            <a:r>
              <a:rPr lang="en-US" i="1" dirty="0" smtClean="0"/>
              <a:t>(</a:t>
            </a:r>
            <a:r>
              <a:rPr lang="en-US" i="1" dirty="0" err="1" smtClean="0"/>
              <a:t>df</a:t>
            </a:r>
            <a:r>
              <a:rPr lang="en-US" i="1" dirty="0" smtClean="0"/>
              <a:t>))</a:t>
            </a:r>
          </a:p>
          <a:p>
            <a:r>
              <a:rPr lang="en-US" i="1" dirty="0" err="1" smtClean="0"/>
              <a:t>plt.style.use</a:t>
            </a:r>
            <a:r>
              <a:rPr lang="en-US" i="1" dirty="0" smtClean="0"/>
              <a:t>('</a:t>
            </a:r>
            <a:r>
              <a:rPr lang="en-US" i="1" dirty="0" err="1" smtClean="0"/>
              <a:t>fivethirtyeight</a:t>
            </a:r>
            <a:r>
              <a:rPr lang="en-US" i="1" dirty="0" smtClean="0"/>
              <a:t>')</a:t>
            </a:r>
          </a:p>
          <a:p>
            <a:r>
              <a:rPr lang="en-US" i="1" dirty="0" err="1" smtClean="0"/>
              <a:t>plt.xlabel</a:t>
            </a:r>
            <a:r>
              <a:rPr lang="en-US" i="1" dirty="0" smtClean="0"/>
              <a:t>('Names of Players')</a:t>
            </a:r>
          </a:p>
          <a:p>
            <a:r>
              <a:rPr lang="en-US" i="1" dirty="0" err="1" smtClean="0"/>
              <a:t>plt.ylabel</a:t>
            </a:r>
            <a:r>
              <a:rPr lang="en-US" i="1" dirty="0" smtClean="0"/>
              <a:t>('Number of Goals and Assists')</a:t>
            </a:r>
          </a:p>
          <a:p>
            <a:r>
              <a:rPr lang="en-US" i="1" dirty="0" err="1" smtClean="0"/>
              <a:t>plt.title</a:t>
            </a:r>
            <a:r>
              <a:rPr lang="en-US" i="1" dirty="0" smtClean="0"/>
              <a:t>('''Multiple Bar Chart showing the number of goals </a:t>
            </a:r>
          </a:p>
          <a:p>
            <a:r>
              <a:rPr lang="en-US" i="1" dirty="0" smtClean="0"/>
              <a:t>          and assists this season by some Arsenal players''')</a:t>
            </a:r>
          </a:p>
          <a:p>
            <a:r>
              <a:rPr lang="en-US" i="1" dirty="0" smtClean="0"/>
              <a:t>plt.bar(x - w/2, </a:t>
            </a:r>
            <a:r>
              <a:rPr lang="en-US" i="1" dirty="0" err="1" smtClean="0"/>
              <a:t>df</a:t>
            </a:r>
            <a:r>
              <a:rPr lang="en-US" i="1" dirty="0" smtClean="0"/>
              <a:t>['Goals'], w, label='Goals')</a:t>
            </a:r>
          </a:p>
          <a:p>
            <a:r>
              <a:rPr lang="en-US" i="1" dirty="0" smtClean="0"/>
              <a:t>plt.bar(x + w/2, </a:t>
            </a:r>
            <a:r>
              <a:rPr lang="en-US" i="1" dirty="0" err="1" smtClean="0"/>
              <a:t>df</a:t>
            </a:r>
            <a:r>
              <a:rPr lang="en-US" i="1" dirty="0" smtClean="0"/>
              <a:t>['Assists'], w, label='Assists')</a:t>
            </a:r>
          </a:p>
          <a:p>
            <a:r>
              <a:rPr lang="en-US" i="1" dirty="0" err="1" smtClean="0"/>
              <a:t>plt.xticks</a:t>
            </a:r>
            <a:r>
              <a:rPr lang="en-US" i="1" dirty="0" smtClean="0"/>
              <a:t>(x, </a:t>
            </a:r>
            <a:r>
              <a:rPr lang="en-US" i="1" dirty="0" err="1" smtClean="0"/>
              <a:t>df</a:t>
            </a:r>
            <a:r>
              <a:rPr lang="en-US" i="1" dirty="0" smtClean="0"/>
              <a:t>['Names'])</a:t>
            </a:r>
          </a:p>
          <a:p>
            <a:r>
              <a:rPr lang="en-US" i="1" dirty="0" err="1" smtClean="0"/>
              <a:t>plt.legend</a:t>
            </a:r>
            <a:r>
              <a:rPr lang="en-US" i="1" dirty="0" smtClean="0"/>
              <a:t>()</a:t>
            </a:r>
          </a:p>
          <a:p>
            <a:r>
              <a:rPr lang="en-US" i="1" dirty="0" err="1" smtClean="0"/>
              <a:t>plt.show</a:t>
            </a:r>
            <a:r>
              <a:rPr lang="en-US" i="1" dirty="0" smtClean="0"/>
              <a:t>()</a:t>
            </a:r>
          </a:p>
          <a:p>
            <a:pPr>
              <a:buNone/>
            </a:pPr>
            <a:endParaRPr lang="en-US" i="1" dirty="0" smtClean="0"/>
          </a:p>
          <a:p>
            <a:pPr>
              <a:buNone/>
            </a:pPr>
            <a:endParaRPr lang="en-US" dirty="0" smtClean="0"/>
          </a:p>
          <a:p>
            <a:pPr>
              <a:buNone/>
            </a:pPr>
            <a:endParaRPr lang="en-US" dirty="0" smtClean="0"/>
          </a:p>
          <a:p>
            <a:endParaRPr lang="en-US" i="1" dirty="0" smtClean="0"/>
          </a:p>
          <a:p>
            <a:endParaRPr lang="en-US" dirty="0" smtClean="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normAutofit/>
          </a:bodyPr>
          <a:lstStyle/>
          <a:p>
            <a:r>
              <a:rPr lang="en-US" dirty="0" smtClean="0"/>
              <a:t>Visualization results</a:t>
            </a:r>
            <a:endParaRPr lang="en-US" dirty="0"/>
          </a:p>
        </p:txBody>
      </p:sp>
      <p:pic>
        <p:nvPicPr>
          <p:cNvPr id="1027" name="Picture 3"/>
          <p:cNvPicPr>
            <a:picLocks noGrp="1" noChangeAspect="1" noChangeArrowheads="1"/>
          </p:cNvPicPr>
          <p:nvPr>
            <p:ph idx="1"/>
          </p:nvPr>
        </p:nvPicPr>
        <p:blipFill>
          <a:blip r:embed="rId2"/>
          <a:srcRect/>
          <a:stretch>
            <a:fillRect/>
          </a:stretch>
        </p:blipFill>
        <p:spPr bwMode="auto">
          <a:xfrm>
            <a:off x="228601" y="838201"/>
            <a:ext cx="2971799" cy="2454964"/>
          </a:xfrm>
          <a:prstGeom prst="rect">
            <a:avLst/>
          </a:prstGeom>
          <a:noFill/>
          <a:ln w="9525">
            <a:noFill/>
            <a:miter lim="800000"/>
            <a:headEnd/>
            <a:tailEnd/>
          </a:ln>
          <a:effectLst/>
        </p:spPr>
      </p:pic>
      <p:pic>
        <p:nvPicPr>
          <p:cNvPr id="1029" name="Picture 5"/>
          <p:cNvPicPr>
            <a:picLocks noChangeAspect="1" noChangeArrowheads="1"/>
          </p:cNvPicPr>
          <p:nvPr/>
        </p:nvPicPr>
        <p:blipFill>
          <a:blip r:embed="rId3"/>
          <a:srcRect/>
          <a:stretch>
            <a:fillRect/>
          </a:stretch>
        </p:blipFill>
        <p:spPr bwMode="auto">
          <a:xfrm>
            <a:off x="304800" y="3757612"/>
            <a:ext cx="6096000" cy="3100388"/>
          </a:xfrm>
          <a:prstGeom prst="rect">
            <a:avLst/>
          </a:prstGeom>
          <a:noFill/>
          <a:ln w="9525">
            <a:noFill/>
            <a:miter lim="800000"/>
            <a:headEnd/>
            <a:tailEnd/>
          </a:ln>
          <a:effectLst/>
        </p:spPr>
      </p:pic>
      <p:pic>
        <p:nvPicPr>
          <p:cNvPr id="1030" name="Picture 6"/>
          <p:cNvPicPr>
            <a:picLocks noChangeAspect="1" noChangeArrowheads="1"/>
          </p:cNvPicPr>
          <p:nvPr/>
        </p:nvPicPr>
        <p:blipFill>
          <a:blip r:embed="rId4"/>
          <a:srcRect/>
          <a:stretch>
            <a:fillRect/>
          </a:stretch>
        </p:blipFill>
        <p:spPr bwMode="auto">
          <a:xfrm>
            <a:off x="3505200" y="838200"/>
            <a:ext cx="3428999" cy="24384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460</TotalTime>
  <Words>1066</Words>
  <Application>Microsoft Office PowerPoint</Application>
  <PresentationFormat>On-screen Show (4:3)</PresentationFormat>
  <Paragraphs>121</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WHAT IS PANDAS?</vt:lpstr>
      <vt:lpstr>Pandas Data Structures</vt:lpstr>
      <vt:lpstr>Loading and Inspecting Data</vt:lpstr>
      <vt:lpstr>Preparing Data for Analysis</vt:lpstr>
      <vt:lpstr>Data Analysis and Aggregation</vt:lpstr>
      <vt:lpstr>Visualization</vt:lpstr>
      <vt:lpstr>Visualization results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PANDAS?</dc:title>
  <dc:creator>Windows User</dc:creator>
  <cp:lastModifiedBy>Windows User</cp:lastModifiedBy>
  <cp:revision>52</cp:revision>
  <dcterms:created xsi:type="dcterms:W3CDTF">2026-06-09T14:25:09Z</dcterms:created>
  <dcterms:modified xsi:type="dcterms:W3CDTF">2026-06-10T15:17:17Z</dcterms:modified>
</cp:coreProperties>
</file>